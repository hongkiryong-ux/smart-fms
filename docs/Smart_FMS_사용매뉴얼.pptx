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8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Smart FMS</a:t>
            </a:r>
          </a:p>
          <a:p>
            <a:r>
              <a:t>사용 매뉴얼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CCDDEE"/>
                </a:solidFill>
              </a:defRPr>
            </a:pPr>
            <a:r>
              <a:t>POSCO WIDE 통합 시설관리 플랫폼</a:t>
            </a:r>
          </a:p>
          <a:p>
            <a:r>
              <a:t>Facility Management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AABBCC"/>
                </a:solidFill>
              </a:defRPr>
            </a:pPr>
            <a:r>
              <a:t>POSCO WIDE Smart FMS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876"/>
                </a:solidFill>
              </a:defRPr>
            </a:pPr>
            <a: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1. 시스템 개요 및 접속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2. 메뉴 구조 (PC / 모바일)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3. 사용자 역할 및 권한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4. Dashboard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5. 사업장·건물·설비 관리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6. 점검(PM) · 점검일지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7. 정비관리 (3단계 워크플로)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8. 가로등 · 위험성평가 · 자재 · 협력사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9. QR 현장 활용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10. 계정관리 · 서버관리 · 백업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6EB8"/>
                </a:solidFill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876"/>
                </a:solidFill>
              </a:defRPr>
            </a:pPr>
            <a:r>
              <a:t>시스템 개요 및 접속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876"/>
                </a:solidFill>
              </a:defRPr>
            </a:pPr>
            <a:r>
              <a:t>Smart FMS란?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사업장·건물·설비를 계층적으로 관리하는 통합 시설관리(FMS) 플랫폼입니다.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예방점검(PM), 정비(CMMS), 점검일지, D-1 작업허가, 가로등 QR, 자재·협력사를 하나의 시스템에서 운영합니다.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접속 주소</a:t>
            </a:r>
          </a:p>
          <a:p>
            <a:pPr lvl="1">
              <a:spcAft>
                <a:spcPts val="800"/>
              </a:spcAft>
              <a:defRPr sz="1400">
                <a:solidFill>
                  <a:srgbClr val="666666"/>
                </a:solidFill>
              </a:defRPr>
            </a:pPr>
            <a:r>
              <a:t>  · 관리자 로그인: /admin/login</a:t>
            </a:r>
          </a:p>
          <a:p>
            <a:pPr lvl="1">
              <a:spcAft>
                <a:spcPts val="800"/>
              </a:spcAft>
              <a:defRPr sz="1400">
                <a:solidFill>
                  <a:srgbClr val="666666"/>
                </a:solidFill>
              </a:defRPr>
            </a:pPr>
            <a:r>
              <a:t>  · 가입 신청: /admin/signup (관리자 승인 후 사용)</a:t>
            </a:r>
          </a:p>
          <a:p>
            <a:pPr lvl="1">
              <a:spcAft>
                <a:spcPts val="800"/>
              </a:spcAft>
              <a:defRPr sz="1400">
                <a:solidFill>
                  <a:srgbClr val="666666"/>
                </a:solidFill>
              </a:defRPr>
            </a:pPr>
            <a:r>
              <a:t>  · 메인 화면: /admin/dashboard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최초 배포 시 admin 계정이 자동 생성됩니다. 비밀번호는 서버 환경변수(ADMIN_PW)로 설정합니다.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6EB8"/>
                </a:solidFill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876"/>
                </a:solidFill>
              </a:defRPr>
            </a:pPr>
            <a:r>
              <a:t>메뉴 구조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876"/>
                </a:solidFill>
              </a:defRPr>
            </a:pPr>
            <a:r>
              <a:t>PC 사이드바 메뉴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41376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메뉴</a:t>
                      </a:r>
                    </a:p>
                  </a:txBody>
                  <a:tcPr anchor="ctr">
                    <a:solidFill>
                      <a:srgbClr val="00387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경로</a:t>
                      </a:r>
                    </a:p>
                  </a:txBody>
                  <a:tcPr anchor="ctr">
                    <a:solidFill>
                      <a:srgbClr val="00387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설명</a:t>
                      </a:r>
                    </a:p>
                  </a:txBody>
                  <a:tcPr anchor="ctr">
                    <a:solidFill>
                      <a:srgbClr val="003876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/admin/dashboard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KPI·운영 현황</a:t>
                      </a:r>
                    </a:p>
                  </a:txBody>
                  <a:tcPr/>
                </a:tc>
              </a:tr>
              <a:tr h="34137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사업장/건물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/admin/sites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사업장·건물·층·구역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설비관리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/admin/equipment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건물별 설비·엑셀·QR</a:t>
                      </a:r>
                    </a:p>
                  </a:txBody>
                  <a:tcPr/>
                </a:tc>
              </a:tr>
              <a:tr h="34137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점검(PM)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/admin/pm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예방점검 주기·결과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점검일지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/admin/inspection-logs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건물별 엑셀 점검일지</a:t>
                      </a:r>
                    </a:p>
                  </a:txBody>
                  <a:tcPr/>
                </a:tc>
              </a:tr>
              <a:tr h="34137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정비접수/승인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/admin/work-orders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정비섹션 CMMS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정비 List(D-1)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/admin/d1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협력사 작업·허가 요청</a:t>
                      </a:r>
                    </a:p>
                  </a:txBody>
                  <a:tcPr/>
                </a:tc>
              </a:tr>
              <a:tr h="34137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작업허가/승인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/admin/facility-section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시설섹션 최종 승인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가로등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/admin/streetlamp/requests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QR 가로등 정비</a:t>
                      </a:r>
                    </a:p>
                  </a:txBody>
                  <a:tcPr/>
                </a:tc>
              </a:tr>
              <a:tr h="34137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위험성평가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/admin/risk-assessment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JSA·5M1E 평가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자재관리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/admin/materials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재고·입출고 (팝업)</a:t>
                      </a:r>
                    </a:p>
                  </a:txBody>
                  <a:tcPr/>
                </a:tc>
              </a:tr>
              <a:tr h="34137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협력사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/admin/partners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협력사 마스터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계정관리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/admin/users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시스템관리자 전용</a:t>
                      </a:r>
                    </a:p>
                  </a:txBody>
                  <a:tcPr/>
                </a:tc>
              </a:tr>
              <a:tr h="34137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서버관리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/admin/server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상태·ZIP 백업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876"/>
                </a:solidFill>
              </a:defRPr>
            </a:pPr>
            <a:r>
              <a:t>PC vs 모바일 내비게이션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6EB8"/>
                </a:solidFill>
              </a:defRPr>
            </a:pPr>
            <a:r>
              <a:t>PC (데스크톱)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좌측 사이드바에 전체 메뉴 표시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설비관리·점검일지는 건물 목록 펼침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정비관리 그룹: 4개 하위 메뉴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자재관리는 팝업 창으로 열기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엑셀 Import/Export, 대량 QR ZIP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0" y="123444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6EB8"/>
                </a:solidFill>
              </a:defRPr>
            </a:pPr>
            <a:r>
              <a:t>모바일 (900px 이하)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69164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상단 햄버거 메뉴 + Smart FMS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정비관리 하위 메뉴만 표시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QR 설비·일지작성이 주 사용 환경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PWA: 홈 화면 추가 가능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Dashboard 등은 URL 직접 접근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6EB8"/>
                </a:solidFill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876"/>
                </a:solidFill>
              </a:defRPr>
            </a:pPr>
            <a:r>
              <a:t>사용자 역할 및 권한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876"/>
                </a:solidFill>
              </a:defRPr>
            </a:pPr>
            <a:r>
              <a:t>역할별 기본 권한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역할</a:t>
                      </a:r>
                    </a:p>
                  </a:txBody>
                  <a:tcPr anchor="ctr">
                    <a:solidFill>
                      <a:srgbClr val="00387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CRUD</a:t>
                      </a:r>
                    </a:p>
                  </a:txBody>
                  <a:tcPr anchor="ctr">
                    <a:solidFill>
                      <a:srgbClr val="00387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접근 범위</a:t>
                      </a:r>
                    </a:p>
                  </a:txBody>
                  <a:tcPr anchor="ctr">
                    <a:solidFill>
                      <a:srgbClr val="00387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시스템관리자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전체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모든 메뉴 + 계정·서버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사업장관리자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추가·수정·삭제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계정·서버 제외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그룹장 / 파트장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추가·수정·삭제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계정·서버 제외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시설담당자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추가·수정·삭제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계정·서버 제외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협력사 / 외부업체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수정만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정비·D-1 중심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조회전용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조회만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삭제·추가·수정 불가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876"/>
                </a:solidFill>
              </a:defRPr>
            </a:pPr>
            <a:r>
              <a:t>가입 · 승인 · 권한 설정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1. /admin/signup 에서 아이디·이름·역할·회사·비밀번호 입력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2. 시스템관리자가 계정관리에서 승인/거절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3. 계정별로 CRUD(추가·수정·삭제)와 메뉴 접근을 개별 지정 가능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4. 내 계정(/admin/account)은 모든 로그인 사용자 접근 가능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계정관리·서버관리는 시스템관리자만 접근할 수 있습니다.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본인 계정의 역할 변경·삭제는 불가합니다.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6EB8"/>
                </a:solidFill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876"/>
                </a:solidFill>
              </a:defRPr>
            </a:pPr>
            <a:r>
              <a:t>Dashboard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876"/>
                </a:solidFill>
              </a:defRPr>
            </a:pPr>
            <a:r>
              <a:t>Dashboard 주요 기능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사업장·건물·설비 수, PM(금일 계획·완료·지연), 정비(의뢰·진행·완료·긴급)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D-1(금일 계획·완료·미완료) 등 KPI를 한눈에 확인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KPI 카드 클릭 시 해당 모듈로 바로 이동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30초마다 자동 갱신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레이아웃 3종 (/admin/dashboard/layouts)</a:t>
            </a:r>
          </a:p>
          <a:p>
            <a:pPr lvl="1">
              <a:spcAft>
                <a:spcPts val="800"/>
              </a:spcAft>
              <a:defRPr sz="1400">
                <a:solidFill>
                  <a:srgbClr val="666666"/>
                </a:solidFill>
              </a:defRPr>
            </a:pPr>
            <a:r>
              <a:t>  · 운영(ops): KPI 중심</a:t>
            </a:r>
          </a:p>
          <a:p>
            <a:pPr lvl="1">
              <a:spcAft>
                <a:spcPts val="800"/>
              </a:spcAft>
              <a:defRPr sz="1400">
                <a:solidFill>
                  <a:srgbClr val="666666"/>
                </a:solidFill>
              </a:defRPr>
            </a:pPr>
            <a:r>
              <a:t>  · 한눈에(bento): 카드형 요약</a:t>
            </a:r>
          </a:p>
          <a:p>
            <a:pPr lvl="1">
              <a:spcAft>
                <a:spcPts val="800"/>
              </a:spcAft>
              <a:defRPr sz="1400">
                <a:solidFill>
                  <a:srgbClr val="666666"/>
                </a:solidFill>
              </a:defRPr>
            </a:pPr>
            <a:r>
              <a:t>  · 시설(gallery): 시설 중심 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6EB8"/>
                </a:solidFill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876"/>
                </a:solidFill>
              </a:defRPr>
            </a:pPr>
            <a:r>
              <a:t>사업장 · 건물 · 설비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876"/>
                </a:solidFill>
              </a:defRPr>
            </a:pPr>
            <a:r>
              <a:t>시설 계층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사업장 → 건물 → 층 → 구역 → 설비 순으로 계층 관리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사업장/건물 (/admin/sites)</a:t>
            </a:r>
          </a:p>
          <a:p>
            <a:pPr lvl="1">
              <a:spcAft>
                <a:spcPts val="800"/>
              </a:spcAft>
              <a:defRPr sz="1400">
                <a:solidFill>
                  <a:srgbClr val="666666"/>
                </a:solidFill>
              </a:defRPr>
            </a:pPr>
            <a:r>
              <a:t>  · 사업장·건물 등록·수정·삭제</a:t>
            </a:r>
          </a:p>
          <a:p>
            <a:pPr lvl="1">
              <a:spcAft>
                <a:spcPts val="800"/>
              </a:spcAft>
              <a:defRPr sz="1400">
                <a:solidFill>
                  <a:srgbClr val="666666"/>
                </a:solidFill>
              </a:defRPr>
            </a:pPr>
            <a:r>
              <a:t>  · 건물 상세: 층·구역 추가, 도면·표준서 첨부 (최대 20MB)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설비관리 (/admin/equipment)</a:t>
            </a:r>
          </a:p>
          <a:p>
            <a:pPr lvl="1">
              <a:spcAft>
                <a:spcPts val="800"/>
              </a:spcAft>
              <a:defRPr sz="1400">
                <a:solidFill>
                  <a:srgbClr val="666666"/>
                </a:solidFill>
              </a:defRPr>
            </a:pPr>
            <a:r>
              <a:t>  · 사이드바 또는 건물 카드에서 건물 선택</a:t>
            </a:r>
          </a:p>
          <a:p>
            <a:pPr lvl="1">
              <a:spcAft>
                <a:spcPts val="800"/>
              </a:spcAft>
              <a:defRPr sz="1400">
                <a:solidFill>
                  <a:srgbClr val="666666"/>
                </a:solidFill>
              </a:defRPr>
            </a:pPr>
            <a:r>
              <a:t>  · 분류(시트)별 설비 목록·상세·정비의뢰·변경로그</a:t>
            </a:r>
          </a:p>
          <a:p>
            <a:pPr lvl="1">
              <a:spcAft>
                <a:spcPts val="800"/>
              </a:spcAft>
              <a:defRPr sz="1400">
                <a:solidFill>
                  <a:srgbClr val="666666"/>
                </a:solidFill>
              </a:defRPr>
            </a:pPr>
            <a:r>
              <a:t>  · QR PNG/ZIP 다운로드 → 현장 부착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876"/>
                </a:solidFill>
              </a:defRPr>
            </a:pPr>
            <a:r>
              <a:t>설비 엑셀 Import / Export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엑셀 Import (/admin/equipment/import)</a:t>
            </a:r>
          </a:p>
          <a:p>
            <a:pPr lvl="1">
              <a:spcAft>
                <a:spcPts val="800"/>
              </a:spcAft>
              <a:defRPr sz="1400">
                <a:solidFill>
                  <a:srgbClr val="666666"/>
                </a:solidFill>
              </a:defRPr>
            </a:pPr>
            <a:r>
              <a:t>  · 건물별 xlsx 업로드 → 시트별 설비 자동 등록</a:t>
            </a:r>
          </a:p>
          <a:p>
            <a:pPr lvl="1">
              <a:spcAft>
                <a:spcPts val="800"/>
              </a:spcAft>
              <a:defRPr sz="1400">
                <a:solidFill>
                  <a:srgbClr val="666666"/>
                </a:solidFill>
              </a:defRPr>
            </a:pPr>
            <a:r>
              <a:t>  · 38개 건물 일괄 Import 지원</a:t>
            </a:r>
          </a:p>
          <a:p>
            <a:pPr lvl="1">
              <a:spcAft>
                <a:spcPts val="800"/>
              </a:spcAft>
              <a:defRPr sz="1400">
                <a:solidFill>
                  <a:srgbClr val="666666"/>
                </a:solidFill>
              </a:defRPr>
            </a:pPr>
            <a:r>
              <a:t>  · 총괄 시트는 제외, 시트명 = 설비 분류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엑셀 Export</a:t>
            </a:r>
          </a:p>
          <a:p>
            <a:pPr lvl="1">
              <a:spcAft>
                <a:spcPts val="800"/>
              </a:spcAft>
              <a:defRPr sz="1400">
                <a:solidFill>
                  <a:srgbClr val="666666"/>
                </a:solidFill>
              </a:defRPr>
            </a:pPr>
            <a:r>
              <a:t>  · 건물별「엑셀 출력」→ {건물명}_설비현황.xlsx</a:t>
            </a:r>
          </a:p>
          <a:p>
            <a:pPr lvl="1">
              <a:spcAft>
                <a:spcPts val="800"/>
              </a:spcAft>
              <a:defRPr sz="1400">
                <a:solidFill>
                  <a:srgbClr val="666666"/>
                </a:solidFill>
              </a:defRPr>
            </a:pPr>
            <a:r>
              <a:t>  · 설비 상세「Excel 내보내기」→ 사양·정비·점검·주기·의뢰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백업 ZIP에도 동일 형식의 설비현황·설비상세 파일이 포함됩니다.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66666"/>
                </a:solidFill>
              </a:defRPr>
            </a:pPr>
            <a:r>
              <a:t>※ 설비 템플릿(/admin/templates)은 URL 직접 접근으로 종류·점검항목 관리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6EB8"/>
                </a:solidFill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876"/>
                </a:solidFill>
              </a:defRPr>
            </a:pPr>
            <a:r>
              <a:t>점검(PM) · 점검일지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876"/>
                </a:solidFill>
              </a:defRPr>
            </a:pPr>
            <a:r>
              <a:t>점검(PM) · 점검일지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6EB8"/>
                </a:solidFill>
              </a:defRPr>
            </a:pPr>
            <a:r>
              <a:t>예방점검 PM (/admin/pm)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탭: 점검목록 / 주기설정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주기: 일·주·월·분기·반기·연·사용자지정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결과: 정상 / 주의 / 고장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이상 시 정비의뢰 연계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Excel 내보내기 지원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QR(/eq/{코드})에서도 PM 등록 가능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0" y="123444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6EB8"/>
                </a:solidFill>
              </a:defRPr>
            </a:pPr>
            <a:r>
              <a:t>점검일지 (/admin/inspection-logs)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69164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건물 등록 후 엑셀 파일 업로드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「이 파일로 연결」→ QR 일지작성 대상 지정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OnlyOffice 또는 브라우저 간단 편집기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편집 URL: .../files/{id}/edit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마지막 편집 셀 위치 저장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OnlyOffice: docker-compose.onlyoffice.yml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6EB8"/>
                </a:solidFill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876"/>
                </a:solidFill>
              </a:defRPr>
            </a:pPr>
            <a:r>
              <a:t>정비관리 3단계 워크플로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876"/>
                </a:solidFill>
              </a:defRPr>
            </a:pPr>
            <a:r>
              <a:t>정비 전체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① 정비접수/승인 (정비섹션) — /admin/work-orders</a:t>
            </a:r>
          </a:p>
          <a:p>
            <a:pPr lvl="1">
              <a:spcAft>
                <a:spcPts val="800"/>
              </a:spcAft>
              <a:defRPr sz="1400">
                <a:solidFill>
                  <a:srgbClr val="666666"/>
                </a:solidFill>
              </a:defRPr>
            </a:pPr>
            <a:r>
              <a:t>  · 정비의뢰 접수 → 정비진행 → 정비완료</a:t>
            </a:r>
          </a:p>
          <a:p>
            <a:pPr lvl="1">
              <a:spcAft>
                <a:spcPts val="800"/>
              </a:spcAft>
              <a:defRPr sz="1400">
                <a:solidFill>
                  <a:srgbClr val="666666"/>
                </a:solidFill>
              </a:defRPr>
            </a:pPr>
            <a:r>
              <a:t>  · 협력사 지정 + D-1 일괄/개별 승인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② 정비 List(D-1)/협력사 — /admin/d1</a:t>
            </a:r>
          </a:p>
          <a:p>
            <a:pPr lvl="1">
              <a:spcAft>
                <a:spcPts val="800"/>
              </a:spcAft>
              <a:defRPr sz="1400">
                <a:solidFill>
                  <a:srgbClr val="666666"/>
                </a:solidFill>
              </a:defRPr>
            </a:pPr>
            <a:r>
              <a:t>  · D-1 승인된 건만 표시 · 예정일·조치·진행상태 편집</a:t>
            </a:r>
          </a:p>
          <a:p>
            <a:pPr lvl="1">
              <a:spcAft>
                <a:spcPts val="800"/>
              </a:spcAft>
              <a:defRPr sz="1400">
                <a:solidFill>
                  <a:srgbClr val="666666"/>
                </a:solidFill>
              </a:defRPr>
            </a:pPr>
            <a:r>
              <a:t>  · 작업허가 승인요청 (개별·일괄)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③ 작업허가/승인 (시설섹션) — /admin/facility-section</a:t>
            </a:r>
          </a:p>
          <a:p>
            <a:pPr lvl="1">
              <a:spcAft>
                <a:spcPts val="800"/>
              </a:spcAft>
              <a:defRPr sz="1400">
                <a:solidFill>
                  <a:srgbClr val="666666"/>
                </a:solidFill>
              </a:defRPr>
            </a:pPr>
            <a:r>
              <a:t>  · 잠재위험·안전대책 확인 → 작업허가 최종 승인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완료 시 설비 정비이력에 자동 등록됩니다.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876"/>
                </a:solidFill>
              </a:defRPr>
            </a:pPr>
            <a:r>
              <a:t>정비 상태 · D-1 보드 필터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2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84047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단계</a:t>
                      </a:r>
                    </a:p>
                  </a:txBody>
                  <a:tcPr anchor="ctr">
                    <a:solidFill>
                      <a:srgbClr val="00387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상태/필터</a:t>
                      </a:r>
                    </a:p>
                  </a:txBody>
                  <a:tcPr anchor="ctr">
                    <a:solidFill>
                      <a:srgbClr val="00387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설명</a:t>
                      </a:r>
                    </a:p>
                  </a:txBody>
                  <a:tcPr anchor="ctr">
                    <a:solidFill>
                      <a:srgbClr val="003876"/>
                    </a:solidFill>
                  </a:tcPr>
                </a:tc>
              </a:tr>
              <a:tr h="38404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정비섹션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정비의뢰→진행→완료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CMMS 접수·승인</a:t>
                      </a:r>
                    </a:p>
                  </a:txBody>
                  <a:tcPr/>
                </a:tc>
              </a:tr>
              <a:tr h="38404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D-1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전체/접수/오늘/내일/예정/완료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협력사 작업 보드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8404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시설섹션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하루전/당일/예정/전체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작업허가 승인</a:t>
                      </a:r>
                    </a:p>
                  </a:txBody>
                  <a:tcPr/>
                </a:tc>
              </a:tr>
              <a:tr h="38405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D-1 승인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d1_approved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승인 후 D-1 목록 노출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6EB8"/>
                </a:solidFill>
              </a:defRPr>
            </a:pPr>
            <a: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876"/>
                </a:solidFill>
              </a:defRPr>
            </a:pPr>
            <a:r>
              <a:t>가로등 · 위험성평가 · 자재 · 협력사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876"/>
                </a:solidFill>
              </a:defRPr>
            </a:pPr>
            <a:r>
              <a:t>가로등 · 위험성평가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6EB8"/>
                </a:solidFill>
              </a:defRPr>
            </a:pPr>
            <a:r>
              <a:t>가로등 (정비관리 → 가로등)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정비의뢰 목록·상태·메모·Excel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QR ZIP (전체/구역별)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CSV·엑셀 일괄 등록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일일 리포트 메일·SMS 설정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시민 QR: /lamp/{코드} (로그인 불필요)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진행 조회: /status (이름+전화 4자리)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0" y="123444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6EB8"/>
                </a:solidFill>
              </a:defRPr>
            </a:pPr>
            <a:r>
              <a:t>위험성평가 · 자재 · 협력사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69164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위험성평가: 로컬/AI 모드, HTML·Excel 출력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자재관리: 그룹별 재고, 입출고, Excel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  · 메뉴 클릭 시 팝업 창으로 열림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협력사: 업체·담당·연락·계약만료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  · D-1·작업허가·시설섹션 기본값 연동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6EB8"/>
                </a:solidFill>
              </a:defRPr>
            </a:pPr>
            <a: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876"/>
                </a:solidFill>
              </a:defRPr>
            </a:pPr>
            <a:r>
              <a:t>QR 현장 활용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876"/>
                </a:solidFill>
              </a:defRPr>
            </a:pPr>
            <a:r>
              <a:t>QR · 공개 URL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2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84047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URL</a:t>
                      </a:r>
                    </a:p>
                  </a:txBody>
                  <a:tcPr anchor="ctr">
                    <a:solidFill>
                      <a:srgbClr val="00387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로그인</a:t>
                      </a:r>
                    </a:p>
                  </a:txBody>
                  <a:tcPr anchor="ctr">
                    <a:solidFill>
                      <a:srgbClr val="00387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기능</a:t>
                      </a:r>
                    </a:p>
                  </a:txBody>
                  <a:tcPr anchor="ctr">
                    <a:solidFill>
                      <a:srgbClr val="003876"/>
                    </a:solidFill>
                  </a:tcPr>
                </a:tc>
              </a:tr>
              <a:tr h="38404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/eq/{설비코드}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불필요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설비 조회·PM·정비이력</a:t>
                      </a:r>
                    </a:p>
                  </a:txBody>
                  <a:tcPr/>
                </a:tc>
              </a:tr>
              <a:tr h="38404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/eq/{코드}/log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불필요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점검일지 엑셀 바로 편집·저장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8404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/lamp/{가로등코드}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불필요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가로등 정비 의뢰</a:t>
                      </a:r>
                    </a:p>
                  </a:txBody>
                  <a:tcPr/>
                </a:tc>
              </a:tr>
              <a:tr h="38405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/status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불필요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가로등 진행상황 조회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876"/>
                </a:solidFill>
              </a:defRPr>
            </a:pPr>
            <a:r>
              <a:t>QR 점검일지 작성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1. 점검일지 메뉴에서 건물 등록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2. 엑셀 파일 업로드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3. 해당 파일에「이 파일로 연결」버튼 클릭 (건물당 1개 연결)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4. 현장에서 설비 QR 스캔 →「일지작성」또는 /eq/{코드}/log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5. 연결된 엑셀이 바로 열림 → 편집 후 저장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로그인 없이 QR에서 작성·저장 가능합니다.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6EB8"/>
                </a:solidFill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876"/>
                </a:solidFill>
              </a:defRPr>
            </a:pPr>
            <a:r>
              <a:t>계정관리 · 서버관리 · 백업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876"/>
                </a:solidFill>
              </a:defRPr>
            </a:pPr>
            <a:r>
              <a:t>서버관리 · ZIP 백업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접근: /admin/server (시스템관리자 전용)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서버 상태: CPU·메모리·디스크·DB 용량 (30초 자동 갱신)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「ZIP 백업 받기」(/admin/server/backup.zip)</a:t>
            </a:r>
          </a:p>
          <a:p>
            <a:pPr lvl="1">
              <a:spcAft>
                <a:spcPts val="800"/>
              </a:spcAft>
              <a:defRPr sz="1400">
                <a:solidFill>
                  <a:srgbClr val="666666"/>
                </a:solidFill>
              </a:defRPr>
            </a:pPr>
            <a:r>
              <a:t>  · files/ — 점검일지·도면·표준서·업로드 원본</a:t>
            </a:r>
          </a:p>
          <a:p>
            <a:pPr lvl="1">
              <a:spcAft>
                <a:spcPts val="800"/>
              </a:spcAft>
              <a:defRPr sz="1400">
                <a:solidFill>
                  <a:srgbClr val="666666"/>
                </a:solidFill>
              </a:defRPr>
            </a:pPr>
            <a:r>
              <a:t>  · excel/업무데이터.xlsx — DB 전체 flat export</a:t>
            </a:r>
          </a:p>
          <a:p>
            <a:pPr lvl="1">
              <a:spcAft>
                <a:spcPts val="800"/>
              </a:spcAft>
              <a:defRPr sz="1400">
                <a:solidFill>
                  <a:srgbClr val="666666"/>
                </a:solidFill>
              </a:defRPr>
            </a:pPr>
            <a:r>
              <a:t>  · excel/설비현황/ — 건물별 설비현황 xlsx (UI와 동일)</a:t>
            </a:r>
          </a:p>
          <a:p>
            <a:pPr lvl="1">
              <a:spcAft>
                <a:spcPts val="800"/>
              </a:spcAft>
              <a:defRPr sz="1400">
                <a:solidFill>
                  <a:srgbClr val="666666"/>
                </a:solidFill>
              </a:defRPr>
            </a:pPr>
            <a:r>
              <a:t>  · excel/설비상세/ — 설비별 상세 xlsx (UI와 동일)</a:t>
            </a:r>
          </a:p>
          <a:p>
            <a:pPr lvl="1">
              <a:spcAft>
                <a:spcPts val="800"/>
              </a:spcAft>
              <a:defRPr sz="1400">
                <a:solidFill>
                  <a:srgbClr val="666666"/>
                </a:solidFill>
              </a:defRPr>
            </a:pPr>
            <a:r>
              <a:t>  · README.txt — 생성 시각·건수 요약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무압축 스트리밍으로 빠르게 다운로드됩니다.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876"/>
                </a:solidFill>
              </a:defRPr>
            </a:pPr>
            <a:r>
              <a:t>URL 빠른 참조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로그인 /admin/login  ·  가입 /admin/signup  ·  Dashboard /admin/dashboard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설비관리 /admin/equipment  ·  Import /admin/equipment/import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점검(PM) /admin/pm  ·  점검일지 /admin/inspection-logs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정비접수 /admin/work-orders  ·  D-1 /admin/d1  ·  시설섹션 /admin/facility-section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가로등 /admin/streetlamp/requests  ·  자재 /admin/materials  ·  협력사 /admin/partners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계정 /admin/users  ·  서버 /admin/server  ·  내 계정 /admin/account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Health Check /health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8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감사합니다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CCDDEE"/>
                </a:solidFill>
              </a:defRPr>
            </a:pPr>
            <a:r>
              <a:t>Smart FMS 사용 중 문의는 시스템관리자에게 연락하세요.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AABBCC"/>
                </a:solidFill>
              </a:defRPr>
            </a:pPr>
            <a:r>
              <a:t>POSCO WIDE Smart FMS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