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0"/>
            <a:ext cx="11338560" cy="1463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003D7A"/>
                </a:solidFill>
                <a:latin typeface="맑은 고딕"/>
              </a:rPr>
              <a:t>Smart FMS  사용자 매뉴얼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32004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22222"/>
                </a:solidFill>
                <a:latin typeface="맑은 고딕"/>
              </a:rPr>
              <a:t>POSCO WIDE 스마트 시설관리 플랫폼 (Facility Management System)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</a:rPr>
              <a:t>예방점검(PM) · 정비(CMMS) · 점검일지(엑셀·웹) · QR 현장운영 · AI 분석 · 위험성평가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</a:rPr>
              <a:t>배포: Render(main 자동) · DB: PostgreSQL/SQLite · PC 브라우저 + 모바일 QR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맑은 고딕"/>
              </a:rPr>
              <a:t>POSCO WIDE Smart FMS  ·  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01  시스템 개요 · 접속 · 역할 · 메뉴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【시스템】 사업장·건물·설비 기준정보, PM, 점검일지1(엑셀)·2(웹), 정비의뢰→D-1→작업허가, 자재·협력사, 위험성평가, AI, 가로등 QR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【접속】 로그인 /admin/login · 가입 /admin/signup(관리자 승인) · 내 계정 /admin/account(항상 접근, API키·비번)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【초기관리자】 환경변수 ADMIN_ID/ADMIN_PW (배포 시 반드시 변경)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【역할】 시스템관리자·사업장관리자·그룹장·파트장·시설담당자·협력사·외부업체·조회전용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【CRUD】 can_create/edit/delete — 역할 기본값 + 계정별 조정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【전용메뉴】 서버관리·계정관리 = system_admin만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【협력사/외부】 설비·PM·점검일지·점검일지2·시설섹션·가로등 기본 차단, 수정(E)만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【조회전용】 읽기만, C/E/D 불가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【메뉴 — PC 사이드바】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Dashboard /admin/dashboard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주요설비 일정 /admin/schedules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공지사항 /admin/notices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사업장·건물 /admin/sites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설비관리 /admin/equipment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점검(PM) /admin/pm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점검일지 /admin/inspection-logs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점검일지2 /admin/inspection-logs2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정비접수/승인 /admin/work-orders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정비 List(D-1) /admin/d1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작업허가/승인 /admin/facility-section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가로등 /admin/streetlamp/requests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AI 분석 /admin/ai-analysis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서버관리 /admin/server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위험성평가 /admin/risk-assessment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자재관리 /admin/materials?popup=1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협력사 /admin/partners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계정관리 /admin/users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※ menu_access JSON으로 계정별 메뉴 개별 허용·차단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02  Dashboard · 일정 · 공지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【Dashboard /admin/dashboard】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KPI: 사업장·건물·설비 수, PM 지연, 정비의뢰, 오늘/어제 점검 등 (30초 TTL 캐시)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위젯: 정비현황·사업장현황·에너지·오늘 일정·공지 — 순서·표시·레이아웃(gallery/bento) 사용자 설정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서버 상태 위젯: Render 배포·DB·디스크·메모리 (관리자 화면과 연동)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【주요설비 일정 /admin/schedules】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캘린더 등록·삭제 · 카테고리: 긴급/점검/작업/검수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Dashboard 「오늘 일정」 위젯과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【공지사항 /admin/notices】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등록·삭제 · 카테고리: 긴급/안전/일반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Dashboard 공지 위젯 표시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【운영 팁】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· 사이드바 메뉴는 역할·menu_access 미허용 시 /admin/account?error=no_menu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· 정비 3메뉴(정비섹션·D-1·시설섹션)에 신규 건수 배지 표시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· 내 계정에서 OpenAI API 키·모델(gpt-4o-mini 기본) 설정 → AI·위험성평가 공용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03  사업장 · 건물 · 설비 · QR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【사업장/건물 /admin/sites】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사업장·건물·층·구역 CRUD · 도면·표준서 파일 업로드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【설비관리 /admin/equipment】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 등록·수정·삭제 · 사업장·건물별 트리 · 상세 스펙·정비·PM 이력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엑셀 Import/Export(전체·건물별) · UI export와 동일 형식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QR: 개별 PNG /admin/equipment/{id}/qr.png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건물 일괄 ZIP /admin/equipment/building/{building_id}/qr-zip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 화면에서 정비의뢰·PM·점검일지 바로 연계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【설비 QR · 현장(로그인 불필요)】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 상세: {BASE}/eq/{설비코드}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→ 모바일: 설비정보·정비의뢰·PM점검·일지작성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점검일지 작성: {BASE}/eq/{코드}/log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→ save/cursor/unlock/heartbeat API 지원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PM 현장점검: POST /eq/{코드}/pm-inspect (고장→정비의뢰)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【환경설정】 PUBLIC_BASE_URL = QR 도메인 고정(배포 URL과 일치 권장)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【백업 포함】 설비현황·설비상세 엑셀은 서버 ZIP 백업 excel/ 폴더에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04  점검(PM) · 점검일지1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【점검(PM) /admin/pm】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일정 등록: 매일/매주/매월/분기/반기/연간/사용자정의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점검 실행 POST .../schedules/{id}/inspect → 정상/주의/고장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지연·기한 필터 · 엑셀 Export /admin/pm/export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QR 현장: /eq/{코드} → PM 점검, 고장 시 정비의뢰 자동 연계 가능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 상세·PM 메뉴 양쪽에서 일정 등록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【점검일지1 — 엑셀 /admin/inspection-logs】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건물별 점검일지 등록 → 엑셀 업로드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OnlyOffice 또는 레거시 편집기 웹 편집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QR 일지: {BASE}/eq/{코드}/log (설비 QR와 동일 경로)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건물 add/remove 시 invalidate_nav_cache → 사이드바 즉시 반영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【점검일지1 vs 2】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1=건물별 엑셀 파일·OnlyOffice / 2=건물명 유형별 웹폼·자동집계·QR 1일입력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05  점검일지2 — 웹 운영일보 (4유형)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【공통 /admin/inspection-logs2】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건물 등록 POST .../buildings → 건물명으로 유형 자동 판별·전용 화면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1일 입력·저장 · 일 마감 close-day(엑셀 아카이브) · 월보/년보 Export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QR 1일 입력(로그인 불필요) · QR PNG 각 화면에서 다운로드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리다이렉트 우선: 주택변전소→제철소본부→중앙관제실(설비)→중앙관제실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【주택변전소】명에 '주택변전소' 포함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관리 .../housing · QR {BASE}/hs/{code}/daily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전력·운전 자동집계 · 월보/년보 kWh · 아카이브 download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【중앙관제실】명 '중앙관제실'(설비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관리 .../central-control-room · QR {BASE}/ccr/{code}/daily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일·월·년 Export · 아카이브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【중앙관제실(설비)】명 '중앙관제실(설비)'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관리 .../ccr-facility · QR {BASE}/ccrf/{code}/daily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설비별 운전·점검 항목 · daily Export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【제철소본부】명 '제철소본부'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관리 .../steelworks-hq · QR {BASE}/swhq/{code}/daily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NO.1/NO.2 수전 배율 12000 · 일사용량 kWh 자동계산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전일 월누계 기반 일일·월누계 재계산(recompute_daily/finalize)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【미매칭】 inspection_log2_detail.html 일반 상세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【AI 연동】 주택변전소 월별 전력 _gather_housing_monthly_reports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06  정비 프로세스 (정비섹션 · D-1 · 시설섹션)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【흐름】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설비QR·관리화면·수동 → 정비의뢰(received) → 배정(assigned)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→ D-1승인 → D-1보드 → 작업허가요청 → 시설승인(permit)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→ in_progress → completed → verified → 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【정비접수/승인 /admin/work-orders】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목록·상태필터·상세 · D-1승인·일괄D-1승인(approve-d1)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작업허가 요청 request-approval → 시설섹션 전달 · 엑셀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【정비 List(D-1) /admin/d1】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D-1 계획 보드 · 협력사별 필터(partner_id)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단계: draft→review→approved→JSA→TBM→permit→진행→완료 (advance)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【작업허가/승인 /admin/facility-section】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보드: day_before(전일)·today·scheduled·all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작업허가·일괄승인 · 협력사별 위험등급·기본값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【배지】 maint_nav_badges — 3메뉴 신규 건수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【협력사 연계】 /admin/partners 코드·담당자·계약종료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partner/external 계정: partner_id·company_name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07  자재 · 협력사 · 위험성평가 · 가로등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【자재 /admin/materials?popup=1】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품목·입고(stock-in)·출고(stock-out)·그룹·재고로그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Import/Export · reset · 설비화면 팝업 연동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【협력사 /admin/partners】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코드·담당자·계약종료 · D-1·시설·정비 필터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【위험성평가 /admin/risk-assessment】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작업명+4M+1E(인·기계·재료·방법·환경) · 대분류·프리셋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AI 보조 assess(use_ai) · 문서 학습 learn · HTML/Excel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【가로등】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공개: {BASE}/lamp/{코드} → 유형선택·접수 · /status 조회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관리: /admin/streetlamp/requests 목록·상태·삭제·Export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QR ZIP /admin/streetlamp/qr-zip · 설정 SMS/메일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CSV import · cron /cron/streetlamp/daily-report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【권한 요약】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system_admin: 전메뉴+서버+계정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site_admin~facility_manager: users/server 제외 C/E/D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partner/external: 정비·D-1·자재·협력사·AI·위험성 등, E만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viewer: 조회만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08  AI 분석 · GPT 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【AI 분석 /admin/ai-analysis】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질의 POST /admin/ai-analysis/ask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· 집계모드: DB스냅샷 즉시답(API키 불필요)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· GPT상세(mode=detail): 전체컨텍스트+GPT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【데이터범위 gather_context】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사업장·건물·설비·정비·PM·D-1·협력사·점검일지1/2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자재·공지·일정·가로등·주택변전소 월보전력 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의도분류: 설비·정비·PM·가로등·D-1·협력사·점검일지·자재·전체현황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【GPT 대화 /admin/ai-analysis/chat】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세션 최대 20턴 · 의도별 DB섹션 강화조회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GPT응답 + evidence(집계근거) 병행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API키 미설정: 버튼활성+안내박스(비활성 아님)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【설정 POST /admin/ai-analysis/ai-settings】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openai_api_key · openai_model(기본 gpt-4o-mini)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내 계정 /admin/account 에서도 동일 키 설정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【위험성평가 AI】 동일 API키 공유 · assess·learn 별도 메뉴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1">
                <a:solidFill>
                  <a:srgbClr val="003D7A"/>
                </a:solidFill>
                <a:latin typeface="맑은 고딕"/>
              </a:rPr>
              <a:t>09  서버관리 · 계정 · QR URL 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【서버관리 /admin/server — system_admin】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상태 30초 갱신: Render·DB·디스크·메모리·CPU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GET /admin/server/status (JSON 폴링)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백업 ZIP /admin/server/backup.zip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files/: 일지·도면·표준서·업로드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excel/: 업무데이터·설비현황·설비상세 + README.txt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매뉴얼 /admin/server/manual.pptx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발표자료 /admin/server/presentation.pptx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【계정 /admin/users】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가입승인 · 역할 · CRUD · menu_access · partner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804672"/>
            <a:ext cx="5623560" cy="56235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【QR·URL 부록 — {BASE}=PUBLIC_BASE_URL】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설비 {BASE}/eq/{code} · 일지 .../eq/{code}/log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주택 {BASE}/hs/{code}/daily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CCR {BASE}/ccr/{code}/daily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CCR설비 {BASE}/ccrf/{code}/daily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제철소 {BASE}/swhq/{code}/daily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가로등 {BASE}/lamp/{code}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D7A"/>
                </a:solidFill>
                <a:latin typeface="맑은 고딕"/>
              </a:rPr>
              <a:t>【다운로드】 서버관리 → 사용 매뉴얼 PPT 받기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222222"/>
                </a:solidFill>
                <a:latin typeface="맑은 고딕"/>
              </a:rPr>
              <a:t>문의: 시스템관리자 · POSCO WIDE Smart FMS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537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 b="0">
                <a:solidFill>
                  <a:srgbClr val="555555"/>
                </a:solidFill>
                <a:latin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