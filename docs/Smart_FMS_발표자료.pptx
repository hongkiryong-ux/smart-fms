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4A35A"/>
                </a:solidFill>
              </a:defRPr>
            </a:pPr>
            <a:r>
              <a:t>WIDE:A Day  ·  QSS 제안형 발표자료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QR 기반 시설관리</a:t>
            </a:r>
          </a:p>
          <a:p>
            <a:r>
              <a:t>스마트 AI 통합 플랫폼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POSCO WIDE Smart FMS (Facility Management System)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현장 QR · 예방점검(PM) · 정비 CMMS · 점검일지 · 가로등 · 위험성평가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자체 구축 · 클라우드 운영 · 전체 자료 ZIP 백업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876"/>
                </a:solidFill>
              </a:defRPr>
            </a:pPr>
            <a:r>
              <a:t>발표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01  기획 배경 — 시설관리 디지털 전환 로드맵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02  핵심 혁신 ① 설비 QR · 예방점검(PM)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03  핵심 혁신 ② 가로등 · 민원형 현장 접수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04  핵심 혁신 ③ 자산·정비·작업허가 통합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05  구축·적용 현황 (운영 수치)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06  운영 효과 · 기대 성과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07  QR 시연 시나리오 · 비전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EB8"/>
                </a:solidFill>
              </a:defRPr>
            </a:pPr>
            <a:r>
              <a:t>01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3876"/>
                </a:solidFill>
              </a:defRPr>
            </a:pPr>
            <a:r>
              <a:t>시설 관리 디지털 전환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수기 → 과도기 → Smart FMS 통합 플랫폼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876"/>
                </a:solidFill>
              </a:defRPr>
            </a:pPr>
            <a:r>
              <a:t>디지털 전환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과거 — 아날로그·수기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종이 점검표·엑셀 분산 관리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이력 추적·통계·누락 파악의 한계</a:t>
            </a:r>
          </a:p>
          <a:p>
            <a:pPr>
              <a:spcAft>
                <a:spcPts val="700"/>
              </a:spcAft>
              <a:defRPr sz="8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600" b="1">
                <a:solidFill>
                  <a:srgbClr val="006EB8"/>
                </a:solidFill>
              </a:defRPr>
            </a:pPr>
            <a:r>
              <a:t>과도기 — 부분 디지털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건물별 엑셀·공유폴더 중심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보안·권한·실시간 관제 대시보드 부재</a:t>
            </a:r>
          </a:p>
          <a:p>
            <a:pPr>
              <a:spcAft>
                <a:spcPts val="700"/>
              </a:spcAft>
              <a:defRPr sz="8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600" b="1">
                <a:solidFill>
                  <a:srgbClr val="006EB8"/>
                </a:solidFill>
              </a:defRPr>
            </a:pPr>
            <a:r>
              <a:t>현재 — Smart FMS 통합 플랫폼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QR·모바일·웹 원스톱, 역할·메뉴 권한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PM·정비·D-1 작업허가·점검일지·가로등·위험성평가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실시간 Dashboard · ZIP 전체 백업 · 확장(API·AI)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EB8"/>
                </a:solidFill>
              </a:defRPr>
            </a:pPr>
            <a:r>
              <a:t>02 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3876"/>
                </a:solidFill>
              </a:defRPr>
            </a:pPr>
            <a:r>
              <a:t>설비 QR · 스마트 예방점검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종이 점검표를 QR·PM으로 대체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876"/>
                </a:solidFill>
              </a:defRPr>
            </a:pPr>
            <a:r>
              <a:t>설비관리 · 예방점검(PM)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03520" cy="4846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876"/>
                </a:solidFill>
              </a:defRPr>
            </a:pPr>
            <a:r>
              <a:t>현장 QR (/eq/{코드})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설비 사양·위치·이력을 즉시 조회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PM 결과(정상/주의/고장) 모바일 등록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이상 시 정비의뢰로 바로 연계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점검일지「일지작성」원클릭 연결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로그인 없이도 QR에서 일지 편집·저장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303520" cy="4846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876"/>
                </a:solidFill>
              </a:defRPr>
            </a:pPr>
            <a:r>
              <a:t>주요 혁신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무결성: DB 기반 이력, 임의 수기 조작 차단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누락 방지: PM 주기·금일/지연 KPI Dashboard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엑셀 Import/Export로 기존 설비현황 즉시 이관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건물별 설비현황·설비상세 백업으로 복원 가능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도면·표준서 첨부로 현장 매뉴얼 자산화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EB8"/>
                </a:solidFill>
              </a:defRPr>
            </a:pPr>
            <a:r>
              <a:t>03 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3876"/>
                </a:solidFill>
              </a:defRPr>
            </a:pPr>
            <a:r>
              <a:t>가로등 QR · 스마트 민원 접수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시민·현장 불편을 QR로 다이렉트 접수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876"/>
                </a:solidFill>
              </a:defRPr>
            </a:pPr>
            <a:r>
              <a:t>가로등 · 민원형 접수 혁신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시민(비로그인) — /lamp/{코드}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불점등·글로브파손·전도위험·밝기불량·기타 의뢰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전화 끝 4자리로 본인 확인 후 접수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/status 에서 이름+전화로 진행상황 조회</a:t>
            </a:r>
          </a:p>
          <a:p>
            <a:pPr>
              <a:spcAft>
                <a:spcPts val="700"/>
              </a:spcAft>
              <a:defRPr sz="8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600" b="1">
                <a:solidFill>
                  <a:srgbClr val="006EB8"/>
                </a:solidFill>
              </a:defRPr>
            </a:pPr>
            <a:r>
              <a:t>관리자 — 정비관리 → 가로등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의뢰 목록·상태·메모·Excel 내보내기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QR ZIP(전체/구역별) · CSV·엑셀 일괄 등록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일일 리포트 메일·SMS(설정 시)</a:t>
            </a:r>
          </a:p>
          <a:p>
            <a:pPr>
              <a:spcAft>
                <a:spcPts val="700"/>
              </a:spcAft>
              <a:defRPr sz="8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600" b="1">
                <a:solidFill>
                  <a:srgbClr val="006EB8"/>
                </a:solidFill>
              </a:defRPr>
            </a:pPr>
            <a:r>
              <a:t>기존 타 플랫폼의 ‘공용부 민원 QR’과 같은 경험을,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가로등·설비 QR로 Smart FMS에 내재화했습니다.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EB8"/>
                </a:solidFill>
              </a:defRPr>
            </a:pPr>
            <a:r>
              <a:t>04  Asset &amp; CMMS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3876"/>
                </a:solidFill>
              </a:defRPr>
            </a:pPr>
            <a:r>
              <a:t>자산·정비·작업허가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사후 복구 → 선제 정비·허가 워크플로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876"/>
                </a:solidFill>
              </a:defRPr>
            </a:pPr>
            <a:r>
              <a:t>정비 3단계 · 자산 디지털화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① 정비섹션 (/admin/work-orders)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접수 → 진행 → 완료 · 협력사 지정 · D-1 승인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② D-1 / 협력사 (/admin/d1)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예정일·조치·진행 · 작업허가 승인요청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③ 시설섹션 (/admin/facility-section)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잠재위험·안전대책 확인 후 작업허가 최종 승인</a:t>
            </a:r>
          </a:p>
          <a:p>
            <a:pPr>
              <a:spcAft>
                <a:spcPts val="700"/>
              </a:spcAft>
              <a:defRPr sz="8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600" b="1">
                <a:solidFill>
                  <a:srgbClr val="006EB8"/>
                </a:solidFill>
              </a:defRPr>
            </a:pPr>
            <a:r>
              <a:t>자산·문서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사업장→건물→층→구역→설비 계층 DB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점검일지 엑셀(OnlyOffice/간단편집) · 도면·표준서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위험성평가(로컬/AI) · 자재·협력사 마스터</a:t>
            </a:r>
          </a:p>
          <a:p>
            <a:pPr lvl="1"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· 완료 시 설비 정비이력 자동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EB8"/>
                </a:solidFill>
              </a:defRPr>
            </a:pPr>
            <a:r>
              <a:t>05  Operations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3876"/>
                </a:solidFill>
              </a:defRPr>
            </a:pPr>
            <a:r>
              <a:t>구축 · 적용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현재 Smart FMS에 적재된 운영 규모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876"/>
                </a:solidFill>
              </a:defRPr>
            </a:pPr>
            <a:r>
              <a:t>Smart FMS 운영 규모 (로컬/운영 DB 기준)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2606040" cy="42062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331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건물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DEEFF"/>
                </a:solidFill>
              </a:defRPr>
            </a:pPr>
            <a:r>
              <a:t>사업장 계층으로</a:t>
            </a:r>
          </a:p>
          <a:p>
            <a:r>
              <a:t>설비·일지·도면 관리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371600"/>
            <a:ext cx="2606040" cy="420624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920240"/>
            <a:ext cx="2331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3,227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310896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활성 설비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840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DEEFF"/>
                </a:solidFill>
              </a:defRPr>
            </a:pPr>
            <a:r>
              <a:t>건물별 설비현황</a:t>
            </a:r>
          </a:p>
          <a:p>
            <a:r>
              <a:t>QR·엑셀·상세 백업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371600"/>
            <a:ext cx="2606040" cy="42062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2331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1,157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10896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가로등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DEEFF"/>
                </a:solidFill>
              </a:defRPr>
            </a:pPr>
            <a:r>
              <a:t>시민 QR 의뢰</a:t>
            </a:r>
          </a:p>
          <a:p>
            <a:r>
              <a:t>· 진행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371600"/>
            <a:ext cx="2606040" cy="420624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920240"/>
            <a:ext cx="2331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10896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모듈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84048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DEEFF"/>
                </a:solidFill>
              </a:defRPr>
            </a:pPr>
            <a:r>
              <a:t>PM·정비·D-1</a:t>
            </a:r>
          </a:p>
          <a:p>
            <a:r>
              <a:t>점검일지·위험성평가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876"/>
                </a:solidFill>
              </a:defRPr>
            </a:pPr>
            <a:r>
              <a:t>모듈별 적용 상태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385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 anchor="ctr">
                    <a:solidFill>
                      <a:srgbClr val="0038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0038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00387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통합 플랫폼 (웹·모바일·PWA)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상시 가동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역할·메뉴 권한, Dashboard KPI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설비 QR · PM · 점검일지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전면 운영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/eq/{코드}, /eq/{코드}/log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정비 CMMS · D-1 · 작업허가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전면 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3단계 워크플로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가로등 시민 QR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구축 완료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/lamp/{코드}, /status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위험성평가 · 자재 · 협력사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AI 모드(계정별 키) 선택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전체 ZIP 백업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설비현황·상세·업로드 원본 포함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EB8"/>
                </a:solidFill>
              </a:defRPr>
            </a:pPr>
            <a:r>
              <a:t>06  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3876"/>
                </a:solidFill>
              </a:defRPr>
            </a:pPr>
            <a:r>
              <a:t>운영 효과 · 기대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개별 QR 솔루션을 넘어 건물·전사 통합 관제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876"/>
                </a:solidFill>
              </a:defRPr>
            </a:pPr>
            <a:r>
              <a:t>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03520" cy="4846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876"/>
                </a:solidFill>
              </a:defRPr>
            </a:pPr>
            <a:r>
              <a:t>현장 ·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점검·일지·정비 이력의 단일 DB화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QR로 현장→시스템 다이렉트 연결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D-1·작업허가로 안전 프로세스 정착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Dashboard로 지연·긴급 즉시 파악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백업으로 데이터 유실·이전 리스크 감소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303520" cy="4846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876"/>
                </a:solidFill>
              </a:defRPr>
            </a:pPr>
            <a:r>
              <a:t>확장 · 거버넌스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역할별 CRUD·메뉴 접근 세분화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시스템관리자 계정·서버 상태 관제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API·AI CCTV 등 확장 인터페이스 준비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위험성평가 AI·보고서 고도화 가능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구독형 외주 의존 없이 자체 플랫폼 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EB8"/>
                </a:solidFill>
              </a:defRPr>
            </a:pPr>
            <a:r>
              <a:t>07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3876"/>
                </a:solidFill>
              </a:defRPr>
            </a:pPr>
            <a:r>
              <a:t>QR 스캔 시연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발표장에서 바로 보여줄 URL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876"/>
                </a:solidFill>
              </a:defRPr>
            </a:pPr>
            <a:r>
              <a:t>실시간 시연 URL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385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시나리오</a:t>
                      </a:r>
                    </a:p>
                  </a:txBody>
                  <a:tcPr anchor="ctr">
                    <a:solidFill>
                      <a:srgbClr val="0038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 anchor="ctr">
                    <a:solidFill>
                      <a:srgbClr val="0038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포인트</a:t>
                      </a:r>
                    </a:p>
                  </a:txBody>
                  <a:tcPr anchor="ctr">
                    <a:solidFill>
                      <a:srgbClr val="00387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설비 조회·PM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/eq/{설비코드}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사양·이력·점검 등록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점검일지 작성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/eq/{코드}/log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연결 엑셀 즉시 편집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가로등 의뢰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/lamp/{가로등코드}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시민 비로그인 접수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진행 조회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/status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이름+전화 4자리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관리자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/admin/dashboard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KPI·딥링크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ZIP 백업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/admin/server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전체 자료 내려받기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876"/>
                </a:solidFill>
              </a:defRPr>
            </a:pPr>
            <a:r>
              <a:t>플랫폼 지향 철학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“측정할 수 없으면 관리할 수 없고,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관리할 수 없으면 개선할 수 없다.”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— 피터 드러커 (Peter Drucker)</a:t>
            </a:r>
          </a:p>
          <a:p>
            <a:pPr>
              <a:spcAft>
                <a:spcPts val="700"/>
              </a:spcAft>
              <a:defRPr sz="800">
                <a:solidFill>
                  <a:srgbClr val="222222"/>
                </a:solidFill>
              </a:defRPr>
            </a:pPr>
          </a:p>
          <a:p>
            <a:pPr>
              <a:spcAft>
                <a:spcPts val="700"/>
              </a:spcAft>
              <a:defRPr sz="1600" b="1">
                <a:solidFill>
                  <a:srgbClr val="006EB8"/>
                </a:solidFill>
              </a:defRPr>
            </a:pPr>
            <a:r>
              <a:t>Smart FMS는 현장의 모든 점검·정비·민원 행동을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데이터로 측정·자산화하여,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가장 안전한 스마트 시설 환경을 지속적으로 만들겠습니다.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Smart Facility, Safe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CCDDEE"/>
                </a:solidFill>
              </a:defRPr>
            </a:pPr>
            <a:r>
              <a:t>경청해 주셔서 감사합니다.</a:t>
            </a:r>
          </a:p>
          <a:p>
            <a:pPr algn="ctr">
              <a:spcAft>
                <a:spcPts val="800"/>
              </a:spcAft>
              <a:defRPr sz="1800">
                <a:solidFill>
                  <a:srgbClr val="CCDDEE"/>
                </a:solidFill>
              </a:defRPr>
            </a:pPr>
            <a:r>
              <a:t>질문·개선 제안은 Smart FMS 시스템관리자에게 연락 부탁드립니다.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4A35A"/>
                </a:solidFill>
              </a:defRPr>
            </a:pPr>
            <a:r>
              <a:t>POSCO WIDE  ·  Smart FMS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